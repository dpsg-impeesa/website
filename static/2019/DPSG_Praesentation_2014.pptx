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5" r:id="rId2"/>
    <p:sldId id="267" r:id="rId3"/>
    <p:sldId id="269" r:id="rId4"/>
    <p:sldId id="270" r:id="rId5"/>
    <p:sldId id="259" r:id="rId6"/>
    <p:sldId id="272" r:id="rId7"/>
    <p:sldId id="260" r:id="rId8"/>
    <p:sldId id="261" r:id="rId9"/>
    <p:sldId id="262" r:id="rId10"/>
    <p:sldId id="263" r:id="rId11"/>
    <p:sldId id="264" r:id="rId12"/>
    <p:sldId id="266" r:id="rId13"/>
    <p:sldId id="273" r:id="rId14"/>
    <p:sldId id="271" r:id="rId15"/>
    <p:sldId id="258" r:id="rId16"/>
    <p:sldId id="268" r:id="rId17"/>
  </p:sldIdLst>
  <p:sldSz cx="9144000" cy="6858000" type="screen4x3"/>
  <p:notesSz cx="6858000" cy="9144000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332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DC8B4C9-4151-4D1D-9944-6AB3846BA392}" type="datetime1">
              <a:rPr lang="de-DE" altLang="de-DE"/>
              <a:pPr/>
              <a:t>07.02.2014</a:t>
            </a:fld>
            <a:endParaRPr lang="en-GB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CE9A4BB-3C55-4367-A097-2CBFE0B35339}" type="slidenum">
              <a:rPr lang="en-GB" altLang="de-DE"/>
              <a:pPr/>
              <a:t>‹Nr.›</a:t>
            </a:fld>
            <a:endParaRPr lang="en-GB" altLang="de-DE"/>
          </a:p>
        </p:txBody>
      </p:sp>
    </p:spTree>
    <p:extLst>
      <p:ext uri="{BB962C8B-B14F-4D97-AF65-F5344CB8AC3E}">
        <p14:creationId xmlns:p14="http://schemas.microsoft.com/office/powerpoint/2010/main" val="28936066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1059884F-81AB-45BB-B73D-0654B1B270B2}" type="datetime1">
              <a:rPr lang="de-DE" altLang="de-DE"/>
              <a:pPr/>
              <a:t>07.02.2014</a:t>
            </a:fld>
            <a:endParaRPr lang="en-GB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smtClean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de-DE" smtClean="0"/>
              <a:t>Mastertextformat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  <a:endParaRPr lang="en-GB" altLang="de-DE" smtClean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1F1B6FA-084C-4DE4-8C2B-3D0CB469125A}" type="slidenum">
              <a:rPr lang="en-GB" altLang="de-DE"/>
              <a:pPr/>
              <a:t>‹Nr.›</a:t>
            </a:fld>
            <a:endParaRPr lang="en-GB" altLang="de-DE"/>
          </a:p>
        </p:txBody>
      </p:sp>
    </p:spTree>
    <p:extLst>
      <p:ext uri="{BB962C8B-B14F-4D97-AF65-F5344CB8AC3E}">
        <p14:creationId xmlns:p14="http://schemas.microsoft.com/office/powerpoint/2010/main" val="13349070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de-DE" dirty="0" smtClean="0"/>
              <a:t>Titelmasterformat durch Klicken bearbeiten</a:t>
            </a:r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altLang="de-DE"/>
              <a:t>Hier kommt der Titel der Präsentation hin</a:t>
            </a:r>
            <a:endParaRPr lang="en-GB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1608F7-D00E-4BA9-8827-EDE1B9B81647}" type="slidenum">
              <a:rPr lang="en-GB" altLang="de-DE"/>
              <a:pPr/>
              <a:t>‹Nr.›</a:t>
            </a:fld>
            <a:endParaRPr lang="en-GB" altLang="de-DE"/>
          </a:p>
        </p:txBody>
      </p:sp>
    </p:spTree>
    <p:extLst>
      <p:ext uri="{BB962C8B-B14F-4D97-AF65-F5344CB8AC3E}">
        <p14:creationId xmlns:p14="http://schemas.microsoft.com/office/powerpoint/2010/main" val="76164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lfslin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altLang="de-DE"/>
              <a:t>Hier kommt der Titel der Präsentation hin</a:t>
            </a:r>
            <a:endParaRPr lang="en-GB" alt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1E741-CF55-4FA5-88D0-34EA350E306D}" type="slidenum">
              <a:rPr lang="en-GB" altLang="de-DE"/>
              <a:pPr/>
              <a:t>‹Nr.›</a:t>
            </a:fld>
            <a:endParaRPr lang="en-GB" altLang="de-DE"/>
          </a:p>
        </p:txBody>
      </p:sp>
    </p:spTree>
    <p:extLst>
      <p:ext uri="{BB962C8B-B14F-4D97-AF65-F5344CB8AC3E}">
        <p14:creationId xmlns:p14="http://schemas.microsoft.com/office/powerpoint/2010/main" val="121591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06513" y="723045"/>
            <a:ext cx="7662558" cy="1470025"/>
          </a:xfrm>
        </p:spPr>
        <p:txBody>
          <a:bodyPr/>
          <a:lstStyle>
            <a:lvl1pPr>
              <a:defRPr>
                <a:latin typeface="TheSerifBold-Plain" pitchFamily="18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7FB126-BDBB-4A4F-BA4A-6BEA464AD3F3}" type="datetimeFigureOut">
              <a:rPr lang="de-DE" smtClean="0"/>
              <a:t>07.02.2014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1BCE-500F-4A20-A442-E30B31F7E0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697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306513" y="603250"/>
            <a:ext cx="7666037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Mastertitelformat bearbeiten</a:t>
            </a:r>
            <a:endParaRPr lang="en-GB" altLang="de-DE" smtClean="0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306513" y="179070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Mastertextformat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  <a:endParaRPr lang="en-GB" altLang="de-DE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432050" y="6289675"/>
            <a:ext cx="4448175" cy="43180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Rockwell" charset="0"/>
              </a:defRPr>
            </a:lvl1pPr>
          </a:lstStyle>
          <a:p>
            <a:r>
              <a:rPr lang="de-DE" altLang="de-DE"/>
              <a:t>Hier kommt der Titel der Präsentation hin</a:t>
            </a:r>
            <a:endParaRPr lang="en-GB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306513" y="6289675"/>
            <a:ext cx="947737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Rockwell" charset="0"/>
              </a:defRPr>
            </a:lvl1pPr>
          </a:lstStyle>
          <a:p>
            <a:fld id="{C2B1510E-FF20-47D8-A88F-8B764240F38E}" type="slidenum">
              <a:rPr lang="en-GB" altLang="de-DE"/>
              <a:pPr/>
              <a:t>‹Nr.›</a:t>
            </a:fld>
            <a:endParaRPr lang="en-GB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  <p:sldLayoutId id="2147483655" r:id="rId3"/>
  </p:sldLayoutIdLst>
  <p:hf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Rockwell"/>
          <a:ea typeface="ＭＳ Ｐゴシック" charset="-128"/>
          <a:cs typeface="Rockwel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3600" kern="1200">
          <a:solidFill>
            <a:schemeClr val="tx2"/>
          </a:solidFill>
          <a:latin typeface="+mn-lt"/>
          <a:ea typeface="ＭＳ Ｐゴシック" charset="-128"/>
          <a:cs typeface="TheSerif 5"/>
        </a:defRPr>
      </a:lvl1pPr>
      <a:lvl2pPr indent="-285750" algn="l" defTabSz="457200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defRPr sz="24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2pPr>
      <a:lvl3pPr indent="-406400" algn="l" defTabSz="457200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3pPr>
      <a:lvl4pPr marL="812800" indent="-38100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4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4pPr>
      <a:lvl5pPr marL="1219200" indent="-381000" algn="l" defTabSz="457200" rtl="0" eaLnBrk="1" fontAlgn="base" hangingPunct="1">
        <a:spcBef>
          <a:spcPct val="20000"/>
        </a:spcBef>
        <a:spcAft>
          <a:spcPct val="0"/>
        </a:spcAft>
        <a:buClr>
          <a:srgbClr val="78726C"/>
        </a:buClr>
        <a:buFont typeface="Arial" charset="0"/>
        <a:buChar char="•"/>
        <a:defRPr kern="1200">
          <a:solidFill>
            <a:schemeClr val="tx1"/>
          </a:solidFill>
          <a:latin typeface="Calibri"/>
          <a:ea typeface="ＭＳ Ｐゴシック" charset="-128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gif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Picture 2" descr="E:\Pictures\Dokumentationen\Pfingsten2013\Fotos\Gruppe auf Hike - quer-5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9512" y="188640"/>
            <a:ext cx="8773104" cy="64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/>
          <p:cNvSpPr/>
          <p:nvPr/>
        </p:nvSpPr>
        <p:spPr>
          <a:xfrm>
            <a:off x="179512" y="416006"/>
            <a:ext cx="8773103" cy="92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1187624" y="519063"/>
            <a:ext cx="6617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solidFill>
                  <a:srgbClr val="A31426"/>
                </a:solidFill>
                <a:latin typeface="+mj-lt"/>
              </a:rPr>
              <a:t>Wir stellen uns vor:</a:t>
            </a:r>
            <a:endParaRPr lang="de-DE" sz="2400" b="1" dirty="0">
              <a:solidFill>
                <a:srgbClr val="A31426"/>
              </a:solidFill>
              <a:latin typeface="+mj-lt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6732240" y="5497282"/>
            <a:ext cx="2022959" cy="10482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7" name="Picture 3" descr="I:\Allgemein\[CorporateDesign]\Wort-Bild-Marke\4c\Logo_DPS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1556" y="5587034"/>
            <a:ext cx="1824900" cy="86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erade Verbindung 4"/>
          <p:cNvCxnSpPr/>
          <p:nvPr/>
        </p:nvCxnSpPr>
        <p:spPr>
          <a:xfrm>
            <a:off x="179512" y="980728"/>
            <a:ext cx="8773103" cy="0"/>
          </a:xfrm>
          <a:prstGeom prst="line">
            <a:avLst/>
          </a:prstGeom>
          <a:ln w="127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1187624" y="980728"/>
            <a:ext cx="6545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>
                <a:solidFill>
                  <a:srgbClr val="002060"/>
                </a:solidFill>
                <a:latin typeface="+mj-lt"/>
              </a:rPr>
              <a:t>Die Deutsche Pfadfinderschaft Sankt Georg</a:t>
            </a:r>
            <a:endParaRPr lang="de-DE" sz="1600" dirty="0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12" name="Picture 2" descr="I:\Allgemein\[CorporateDesign]\Wegzeichen\Start\wegzeichen_start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656777"/>
            <a:ext cx="360040" cy="17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Wer wir sind</a:t>
            </a:r>
            <a:endParaRPr lang="de-DE" b="1" dirty="0"/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E1BCE-500F-4A20-A442-E30B31F7E057}" type="slidenum">
              <a:rPr lang="de-DE" smtClean="0"/>
              <a:t>2</a:t>
            </a:fld>
            <a:endParaRPr lang="de-DE"/>
          </a:p>
        </p:txBody>
      </p:sp>
      <p:sp>
        <p:nvSpPr>
          <p:cNvPr id="7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„Ohne Abenteuer wäre das Leben tödlich langweilig“</a:t>
            </a:r>
            <a:br>
              <a:rPr lang="de-DE" dirty="0" smtClean="0"/>
            </a:br>
            <a:r>
              <a:rPr lang="de-DE" sz="900" dirty="0" smtClean="0"/>
              <a:t>Lord </a:t>
            </a:r>
            <a:r>
              <a:rPr lang="de-DE" sz="900" dirty="0"/>
              <a:t>Robert </a:t>
            </a:r>
            <a:r>
              <a:rPr lang="de-DE" sz="900" dirty="0" smtClean="0"/>
              <a:t>Baden-Powell, </a:t>
            </a:r>
            <a:r>
              <a:rPr lang="de-DE" sz="900" dirty="0"/>
              <a:t>Gründer der Weltpfadfinder-bewegung</a:t>
            </a:r>
            <a:endParaRPr lang="en-GB" altLang="de-DE" sz="900" dirty="0"/>
          </a:p>
          <a:p>
            <a:pPr marL="0" lvl="1"/>
            <a:endParaRPr lang="en-GB" altLang="de-DE" sz="2000" dirty="0">
              <a:latin typeface="Calibri" charset="0"/>
              <a:cs typeface="Calibri" charset="0"/>
            </a:endParaRPr>
          </a:p>
          <a:p>
            <a:pPr marL="0" lvl="1"/>
            <a:r>
              <a:rPr lang="de-DE" altLang="de-DE" sz="2000" dirty="0">
                <a:latin typeface="Calibri" charset="0"/>
                <a:cs typeface="Calibri" charset="0"/>
              </a:rPr>
              <a:t>Pfadfinden </a:t>
            </a:r>
            <a:r>
              <a:rPr lang="de-DE" altLang="de-DE" sz="2000" dirty="0" smtClean="0">
                <a:latin typeface="Calibri" charset="0"/>
                <a:cs typeface="Calibri" charset="0"/>
              </a:rPr>
              <a:t>bei der DPSG bietet </a:t>
            </a:r>
            <a:r>
              <a:rPr lang="de-DE" altLang="de-DE" sz="2000" dirty="0">
                <a:latin typeface="Calibri" charset="0"/>
                <a:cs typeface="Calibri" charset="0"/>
              </a:rPr>
              <a:t>Kindern </a:t>
            </a:r>
            <a:r>
              <a:rPr lang="de-DE" altLang="de-DE" sz="2000" dirty="0" smtClean="0">
                <a:latin typeface="Calibri" charset="0"/>
                <a:cs typeface="Calibri" charset="0"/>
              </a:rPr>
              <a:t>&amp; Jugendlichen </a:t>
            </a:r>
            <a:r>
              <a:rPr lang="de-DE" altLang="de-DE" sz="2000" dirty="0">
                <a:latin typeface="Calibri" charset="0"/>
                <a:cs typeface="Calibri" charset="0"/>
              </a:rPr>
              <a:t>mehr als ein Abenteuer. Es bietet </a:t>
            </a:r>
            <a:r>
              <a:rPr lang="de-DE" altLang="de-DE" sz="2000" dirty="0" smtClean="0">
                <a:latin typeface="Calibri" charset="0"/>
                <a:cs typeface="Calibri" charset="0"/>
              </a:rPr>
              <a:t>viele </a:t>
            </a:r>
            <a:r>
              <a:rPr lang="de-DE" altLang="de-DE" sz="2000" dirty="0">
                <a:latin typeface="Calibri" charset="0"/>
                <a:cs typeface="Calibri" charset="0"/>
              </a:rPr>
              <a:t>Abenteuer</a:t>
            </a:r>
            <a:r>
              <a:rPr lang="de-DE" altLang="de-DE" sz="2000" dirty="0" smtClean="0">
                <a:latin typeface="Calibri" charset="0"/>
                <a:cs typeface="Calibri" charset="0"/>
              </a:rPr>
              <a:t>:</a:t>
            </a:r>
            <a:endParaRPr lang="en-GB" altLang="de-DE" sz="2000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Mit Freundinnen und Freunden Spaß haben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In der Natur unterwegs sein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Neues entdecken und ausprobieren</a:t>
            </a:r>
          </a:p>
          <a:p>
            <a:pPr marL="555625" lvl="1" indent="-195263">
              <a:buFontTx/>
              <a:buChar char="•"/>
            </a:pP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Lernen während des gemeinsamen </a:t>
            </a: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Handelns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Gemeinsam in der Gruppe das eigene Umfeld gestalten</a:t>
            </a:r>
          </a:p>
        </p:txBody>
      </p:sp>
    </p:spTree>
    <p:extLst>
      <p:ext uri="{BB962C8B-B14F-4D97-AF65-F5344CB8AC3E}">
        <p14:creationId xmlns:p14="http://schemas.microsoft.com/office/powerpoint/2010/main" val="322695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Wer wir sind</a:t>
            </a:r>
            <a:endParaRPr lang="de-DE" b="1" dirty="0"/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E1BCE-500F-4A20-A442-E30B31F7E057}" type="slidenum">
              <a:rPr lang="de-DE" smtClean="0"/>
              <a:t>3</a:t>
            </a:fld>
            <a:endParaRPr lang="de-DE"/>
          </a:p>
        </p:txBody>
      </p:sp>
      <p:sp>
        <p:nvSpPr>
          <p:cNvPr id="7" name="Textplatzhalter 4"/>
          <p:cNvSpPr txBox="1">
            <a:spLocks/>
          </p:cNvSpPr>
          <p:nvPr/>
        </p:nvSpPr>
        <p:spPr bwMode="auto">
          <a:xfrm>
            <a:off x="1306514" y="1784350"/>
            <a:ext cx="542029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de-DE" dirty="0" smtClean="0"/>
              <a:t>Gemeinsam unterwegs</a:t>
            </a:r>
            <a:endParaRPr lang="en-GB" altLang="de-DE" dirty="0"/>
          </a:p>
          <a:p>
            <a:endParaRPr lang="en-GB" sz="2000" dirty="0" smtClean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/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 der DPSG sind Jungen und Mädchen gemeinsam unterwegs. Sie wagen Abenteuer und lernen,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Verantwortung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 übernehmen.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Sie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entwickeln eine lebendige Beziehung zu Gott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/>
            <a:endParaRPr lang="de-DE" sz="20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Höhepunkte des Jahres sind die kleinen und großen Fahrten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 Zeltlager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/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 descr="E:\Pictures\Dokumentationen\Pfingsten2013\Fotos\Gruppe auf Hike - quer-5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52"/>
            <a:ext cx="2054225" cy="33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Das </a:t>
            </a:r>
            <a:r>
              <a:rPr lang="en-GB" altLang="de-DE" dirty="0" err="1"/>
              <a:t>Pfadfinder-Gesetz</a:t>
            </a:r>
            <a:endParaRPr lang="en-GB" alt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4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Als</a:t>
            </a:r>
            <a:r>
              <a:rPr lang="en-GB" altLang="de-DE" dirty="0" smtClean="0"/>
              <a:t> </a:t>
            </a:r>
            <a:r>
              <a:rPr lang="en-GB" altLang="de-DE" dirty="0" err="1" smtClean="0"/>
              <a:t>Pfadfinderin</a:t>
            </a:r>
            <a:r>
              <a:rPr lang="en-GB" altLang="de-DE" dirty="0" smtClean="0"/>
              <a:t>, </a:t>
            </a:r>
            <a:r>
              <a:rPr lang="en-GB" altLang="de-DE" dirty="0" err="1" smtClean="0"/>
              <a:t>als</a:t>
            </a:r>
            <a:r>
              <a:rPr lang="en-GB" altLang="de-DE" dirty="0" smtClean="0"/>
              <a:t> </a:t>
            </a:r>
            <a:r>
              <a:rPr lang="en-GB" altLang="de-DE" dirty="0" err="1" smtClean="0"/>
              <a:t>Pfadfinder</a:t>
            </a:r>
            <a:r>
              <a:rPr lang="en-GB" altLang="de-DE" dirty="0" smtClean="0"/>
              <a:t>…</a:t>
            </a:r>
          </a:p>
          <a:p>
            <a:pPr marL="0" lvl="1"/>
            <a:endParaRPr lang="en-GB" alt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begegne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allen Menschen mit Respekt und habe alle Pfadfinder und Pfadfinderinnen als Geschwister.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gehe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zuversichtlich und mit wachen Augen durch die Welt.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bin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höflich und helfe da, wo es notwendig ist.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mache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nichts halb und gebe auch in Schwierigkeiten nicht auf.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entwickle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eine eigene Meinung und stehe für diese ein.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sage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ich, was ich denke, und tue, was ich sage.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lebe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einfach und umweltbewusst.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stehe </a:t>
            </a:r>
            <a:r>
              <a:rPr lang="de-DE" sz="2000" dirty="0">
                <a:solidFill>
                  <a:srgbClr val="000000"/>
                </a:solidFill>
                <a:cs typeface="Times New Roman" pitchFamily="18" charset="0"/>
              </a:rPr>
              <a:t>ich zu meiner Herkunft und zu meinem Glauben. </a:t>
            </a:r>
          </a:p>
        </p:txBody>
      </p:sp>
    </p:spTree>
    <p:extLst>
      <p:ext uri="{BB962C8B-B14F-4D97-AF65-F5344CB8AC3E}">
        <p14:creationId xmlns:p14="http://schemas.microsoft.com/office/powerpoint/2010/main" val="304931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Grundlegende Prinzipien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5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Ziel</a:t>
            </a:r>
            <a:r>
              <a:rPr lang="en-GB" altLang="de-DE" dirty="0" smtClean="0"/>
              <a:t>: </a:t>
            </a:r>
            <a:r>
              <a:rPr lang="en-GB" altLang="de-DE" dirty="0" err="1" smtClean="0"/>
              <a:t>Förderung</a:t>
            </a:r>
            <a:r>
              <a:rPr lang="en-GB" altLang="de-DE" dirty="0" smtClean="0"/>
              <a:t> der </a:t>
            </a:r>
            <a:r>
              <a:rPr lang="en-GB" altLang="de-DE" dirty="0" err="1" smtClean="0"/>
              <a:t>Entwicklung</a:t>
            </a:r>
            <a:r>
              <a:rPr lang="en-GB" altLang="de-DE" dirty="0" smtClean="0"/>
              <a:t> </a:t>
            </a:r>
            <a:r>
              <a:rPr lang="en-GB" altLang="de-DE" dirty="0" err="1" smtClean="0"/>
              <a:t>junger</a:t>
            </a:r>
            <a:r>
              <a:rPr lang="en-GB" altLang="de-DE" dirty="0" smtClean="0"/>
              <a:t> Menschen</a:t>
            </a:r>
          </a:p>
          <a:p>
            <a:pPr marL="0" lvl="1"/>
            <a:endParaRPr lang="en-GB" altLang="de-DE" dirty="0" smtClean="0">
              <a:latin typeface="Calibri" charset="0"/>
              <a:cs typeface="Calibri" charset="0"/>
            </a:endParaRPr>
          </a:p>
          <a:p>
            <a:pPr marL="0" lvl="1"/>
            <a:r>
              <a:rPr lang="en-GB" altLang="de-DE" sz="2000" dirty="0" err="1" smtClean="0">
                <a:latin typeface="Calibri" charset="0"/>
                <a:cs typeface="Calibri" charset="0"/>
              </a:rPr>
              <a:t>Durch</a:t>
            </a:r>
            <a:endParaRPr lang="en-GB" altLang="de-DE" sz="2000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Pädagogische Prinzipien &amp; Arbeit in Altersstufen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Eigenständiges Planen und Durchführen von Projekten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Erwachsene, ehrenamtliche Leiterinnen und Leiter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Gruppenstunden &amp; Lager</a:t>
            </a:r>
          </a:p>
        </p:txBody>
      </p:sp>
    </p:spTree>
    <p:extLst>
      <p:ext uri="{BB962C8B-B14F-4D97-AF65-F5344CB8AC3E}">
        <p14:creationId xmlns:p14="http://schemas.microsoft.com/office/powerpoint/2010/main" val="378721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 wir sind</a:t>
            </a:r>
            <a:endParaRPr lang="en-GB" altLang="de-DE" b="1" dirty="0" smtClean="0">
              <a:latin typeface="Rockwell" charset="0"/>
            </a:endParaRPr>
          </a:p>
        </p:txBody>
      </p:sp>
      <p:sp>
        <p:nvSpPr>
          <p:cNvPr id="7171" name="Fußzeilenplatzhalt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2pPr>
            <a:lvl3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3pPr>
            <a:lvl4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4pPr>
            <a:lvl5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9pPr>
          </a:lstStyle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2pPr>
            <a:lvl3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3pPr>
            <a:lvl4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4pPr>
            <a:lvl5pPr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charset="0"/>
                <a:ea typeface="ＭＳ Ｐゴシック" charset="-128"/>
              </a:defRPr>
            </a:lvl9pPr>
          </a:lstStyle>
          <a:p>
            <a:fld id="{81DA4864-E49A-4953-AA6D-74A1A52CBE8F}" type="slidenum">
              <a:rPr lang="en-GB" altLang="de-DE">
                <a:solidFill>
                  <a:srgbClr val="898989"/>
                </a:solidFill>
              </a:rPr>
              <a:pPr/>
              <a:t>6</a:t>
            </a:fld>
            <a:endParaRPr lang="en-GB" altLang="de-DE">
              <a:solidFill>
                <a:srgbClr val="898989"/>
              </a:solidFill>
            </a:endParaRPr>
          </a:p>
        </p:txBody>
      </p:sp>
      <p:sp>
        <p:nvSpPr>
          <p:cNvPr id="7173" name="Textplatzhalter 6"/>
          <p:cNvSpPr>
            <a:spLocks noGrp="1"/>
          </p:cNvSpPr>
          <p:nvPr>
            <p:ph type="body" idx="4294967295"/>
          </p:nvPr>
        </p:nvSpPr>
        <p:spPr>
          <a:xfrm>
            <a:off x="1301750" y="1784350"/>
            <a:ext cx="7666038" cy="4200525"/>
          </a:xfrm>
        </p:spPr>
        <p:txBody>
          <a:bodyPr/>
          <a:lstStyle/>
          <a:p>
            <a:r>
              <a:rPr lang="de-DE" altLang="de-DE" dirty="0"/>
              <a:t>Gemeinsam </a:t>
            </a:r>
            <a:r>
              <a:rPr lang="de-DE" altLang="de-DE" dirty="0" smtClean="0"/>
              <a:t>unterwegs</a:t>
            </a:r>
            <a:endParaRPr lang="de-DE" sz="24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endParaRPr lang="de-DE" sz="24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 DPSG erreicht 95.000 Kinder, Jugendliche und junge Erwachsene und gliedert sich auf vier Ebenen: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ca. 1400 Stämme und Siedlungen (Stämme in Gründung) 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137 Bezirke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 Diözesen, verteilt auf alle 16 Bundesländer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Bundesverband</a:t>
            </a: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Jede Ebene gliedert sich in Altersstufen und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Engagementfelder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60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Leben in vier Altersstufen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7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5419239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Wölflinge</a:t>
            </a:r>
            <a:endParaRPr lang="en-GB" altLang="de-DE" dirty="0" smtClean="0"/>
          </a:p>
          <a:p>
            <a:pPr marL="0" lvl="1"/>
            <a:endParaRPr lang="en-GB" altLang="de-DE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Im Alter von sieben bis zehn Jahren sind Mädchen und Jungen Mitglied der </a:t>
            </a:r>
            <a:r>
              <a:rPr lang="de-DE" sz="2000" dirty="0" err="1" smtClean="0">
                <a:solidFill>
                  <a:srgbClr val="000000"/>
                </a:solidFill>
                <a:cs typeface="Times New Roman" pitchFamily="18" charset="0"/>
              </a:rPr>
              <a:t>Wölflingsstufe</a:t>
            </a: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In der </a:t>
            </a:r>
            <a:r>
              <a:rPr lang="de-DE" sz="2000" dirty="0" err="1" smtClean="0">
                <a:solidFill>
                  <a:srgbClr val="000000"/>
                </a:solidFill>
                <a:cs typeface="Times New Roman" pitchFamily="18" charset="0"/>
              </a:rPr>
              <a:t>Wölflingsstufe</a:t>
            </a: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 entdecken die Kinder spielerisch die Welt.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Die Wölflinge entdecken vor allem ihr alltägliches Umfeld und gestalten es nach ihren Wünschen.</a:t>
            </a:r>
          </a:p>
        </p:txBody>
      </p:sp>
      <p:pic>
        <p:nvPicPr>
          <p:cNvPr id="2050" name="Picture 2" descr="E:\Pictures\Dokumentationen\Pfingsten2013\Fotos\Fotos PIW13 unsortiert\Bilder von Ralf - Teil 1\ADL_897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48"/>
            <a:ext cx="2054225" cy="33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73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Leben in vier Altersstufen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8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5419239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Jungpfadfinderstufe</a:t>
            </a:r>
            <a:endParaRPr lang="en-GB" altLang="de-DE" dirty="0" smtClean="0"/>
          </a:p>
          <a:p>
            <a:pPr marL="0" lvl="1"/>
            <a:endParaRPr lang="en-GB" altLang="de-DE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Im Alter von zehn bis 13 Jahren sind Mädchen und Jungen Mitglied der Jungpfadfinderstufe.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Jungpfadfinderinnen und Jungpfadfinder suchen und erleben Abenteuer.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In ihrem Alter entdecken sie sich selbst und nehmen sich immer stärker als Jungen und Mädchen wahr.</a:t>
            </a:r>
          </a:p>
        </p:txBody>
      </p:sp>
      <p:pic>
        <p:nvPicPr>
          <p:cNvPr id="6" name="Picture 2" descr="E:\Pictures\Dokumentationen\Pfingsten2013\Fotos\Fotos PIW13 unsortiert\Sehr\SE - Juffi beim Funkworkshop-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r="16500" b="14195"/>
          <a:stretch/>
        </p:blipFill>
        <p:spPr bwMode="auto">
          <a:xfrm>
            <a:off x="6918325" y="1784350"/>
            <a:ext cx="2120900" cy="345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9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Leben in vier Altersstufen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9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5419239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Pfadfinderstufe</a:t>
            </a:r>
            <a:endParaRPr lang="en-GB" altLang="de-DE" dirty="0" smtClean="0"/>
          </a:p>
          <a:p>
            <a:pPr marL="0" lvl="1"/>
            <a:endParaRPr lang="en-GB" altLang="de-DE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Im Alter von 13 bis 16 Jahren sind Jugendliche Mitglied der Pfadfinderstufe.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„Wagt es“ ist das Leitbild der Pfadfinderinnen und Pfadfinder. Sie brechen aus ihrem Alltag aus, stecken sich Ziele und versuchen, sie zu erreichen. 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Die Jugendlichen in der Pfadfinderstufe entdecken ihren eigenen Lebensstil.</a:t>
            </a:r>
            <a:endParaRPr lang="de-DE" sz="3200" dirty="0" smtClean="0">
              <a:solidFill>
                <a:srgbClr val="000000"/>
              </a:solidFill>
              <a:cs typeface="Times New Roman" pitchFamily="18" charset="0"/>
            </a:endParaRPr>
          </a:p>
        </p:txBody>
      </p:sp>
      <p:pic>
        <p:nvPicPr>
          <p:cNvPr id="6" name="Picture 3" descr="E:\Pictures\Dokumentationen\Pfingsten2013\Fotos\Fotos PIW13 unsortiert\Bilder von Ralf - Teil 1\RAD_116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51"/>
            <a:ext cx="2054225" cy="33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10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Leben in vier Altersstufen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10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5419239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de-DE" dirty="0" err="1" smtClean="0"/>
              <a:t>Roverstufe</a:t>
            </a:r>
            <a:endParaRPr lang="en-GB" altLang="de-DE" dirty="0" smtClean="0"/>
          </a:p>
          <a:p>
            <a:pPr marL="0" lvl="1"/>
            <a:endParaRPr lang="en-GB" altLang="de-DE" dirty="0" smtClean="0">
              <a:latin typeface="Calibri" charset="0"/>
              <a:cs typeface="Calibri" charset="0"/>
            </a:endParaRP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Im Alter von 16 bis 20 Jahren sind Jugendliche Mitglied der </a:t>
            </a:r>
            <a:r>
              <a:rPr lang="de-DE" sz="2000" dirty="0" err="1" smtClean="0">
                <a:solidFill>
                  <a:srgbClr val="000000"/>
                </a:solidFill>
                <a:cs typeface="Times New Roman" pitchFamily="18" charset="0"/>
              </a:rPr>
              <a:t>Roverstufe</a:t>
            </a: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Die jungen Erwachsenen in der </a:t>
            </a:r>
            <a:r>
              <a:rPr lang="de-DE" sz="2000" dirty="0" err="1" smtClean="0">
                <a:solidFill>
                  <a:srgbClr val="000000"/>
                </a:solidFill>
                <a:cs typeface="Times New Roman" pitchFamily="18" charset="0"/>
              </a:rPr>
              <a:t>Roverstufe</a:t>
            </a: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 stehen an der Schwelle zum Erwachsenwerden.</a:t>
            </a:r>
          </a:p>
          <a:p>
            <a:pPr marL="555625" lvl="1" indent="-195263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cs typeface="Times New Roman" pitchFamily="18" charset="0"/>
              </a:rPr>
              <a:t>Sie treffen Entscheidungen für ihre Zukunft und entdecken die Welt mit ihren Menschen und Kulturen.</a:t>
            </a:r>
          </a:p>
        </p:txBody>
      </p:sp>
      <p:pic>
        <p:nvPicPr>
          <p:cNvPr id="6" name="Picture 2" descr="E:\Pictures\Dokumentationen\Pfingsten2013\Fotos\-4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51"/>
            <a:ext cx="2054225" cy="33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3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Engagementfelder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11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de-DE" dirty="0" smtClean="0"/>
              <a:t>Fachbereiche</a:t>
            </a:r>
          </a:p>
          <a:p>
            <a:pPr marL="0" lvl="1"/>
            <a:endParaRPr lang="en-GB" alt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Ökologie: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Bewahrung der Schöpfung &amp; Nachhaltiges, einfaches Leben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Internationale Gerechtigkeit: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Engagement für Gleichberechtigung &amp; Armutsbekämpfung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Behindertenarbeit: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Förderung von Inklusion &amp; Integration von Menschen mit Behinderung</a:t>
            </a:r>
          </a:p>
        </p:txBody>
      </p:sp>
    </p:spTree>
    <p:extLst>
      <p:ext uri="{BB962C8B-B14F-4D97-AF65-F5344CB8AC3E}">
        <p14:creationId xmlns:p14="http://schemas.microsoft.com/office/powerpoint/2010/main" val="31637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Engagementfelder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12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de-DE" dirty="0" smtClean="0"/>
              <a:t>Internationale Arbeit</a:t>
            </a:r>
          </a:p>
          <a:p>
            <a:pPr marL="0" lvl="1"/>
            <a:endParaRPr lang="en-GB" alt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/>
            <a:r>
              <a:rPr lang="de-DE" altLang="de-DE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Die Internationalität der Pfadfinderbewegung ist ein Querschnittsthema der DPSG und wird auf </a:t>
            </a:r>
            <a:r>
              <a:rPr lang="de-DE" altLang="de-DE" sz="2000" dirty="0">
                <a:latin typeface="Calibri" panose="020F0502020204030204" pitchFamily="34" charset="0"/>
                <a:cs typeface="Calibri" panose="020F0502020204030204" pitchFamily="34" charset="0"/>
              </a:rPr>
              <a:t>vielfältige Weise </a:t>
            </a:r>
            <a:r>
              <a:rPr lang="de-DE" altLang="de-DE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umgesetzt. Dabei stehen drei Ziele im Vordergrund:</a:t>
            </a:r>
          </a:p>
          <a:p>
            <a:pPr marL="0" lvl="1"/>
            <a:endParaRPr lang="en-GB" alt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Friede und Verständigung schaffen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Interkulturelles Lernen fördern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Globalisierung mitgestalten</a:t>
            </a:r>
          </a:p>
          <a:p>
            <a:pPr marL="358775" lvl="1">
              <a:buFontTx/>
              <a:buChar char="•"/>
            </a:pPr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025" lvl="1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Internationale Begegnungen, Freiwilligendienste und Partnerschaftsarbeit sind wichtige Handlungsfelder auf diesem Gebiet.</a:t>
            </a:r>
          </a:p>
        </p:txBody>
      </p:sp>
    </p:spTree>
    <p:extLst>
      <p:ext uri="{BB962C8B-B14F-4D97-AF65-F5344CB8AC3E}">
        <p14:creationId xmlns:p14="http://schemas.microsoft.com/office/powerpoint/2010/main" val="365063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Engagementfelder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13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de-DE" dirty="0" smtClean="0"/>
              <a:t>Weitere Themen</a:t>
            </a:r>
          </a:p>
          <a:p>
            <a:pPr marL="0" lvl="1"/>
            <a:endParaRPr lang="en-GB" altLang="de-DE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Ausbildung: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Bundesweit einheitliche Leiter- und Leiterinnen-Ausbildung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Spiritualität: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Glaube in der Tat erleben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Prävention: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Einsatz gegen Grenzverletzungen und Missbrauch</a:t>
            </a:r>
          </a:p>
        </p:txBody>
      </p:sp>
    </p:spTree>
    <p:extLst>
      <p:ext uri="{BB962C8B-B14F-4D97-AF65-F5344CB8AC3E}">
        <p14:creationId xmlns:p14="http://schemas.microsoft.com/office/powerpoint/2010/main" val="409745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Jahresaktion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smtClean="0"/>
              <a:t>Hier kommt der Titel der Präsentation hin</a:t>
            </a:r>
            <a:endParaRPr lang="en-GB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14</a:t>
            </a:fld>
            <a:endParaRPr lang="en-GB" altLang="de-DE"/>
          </a:p>
        </p:txBody>
      </p:sp>
      <p:sp>
        <p:nvSpPr>
          <p:cNvPr id="5" name="Textplatzhalter 6"/>
          <p:cNvSpPr txBox="1">
            <a:spLocks/>
          </p:cNvSpPr>
          <p:nvPr/>
        </p:nvSpPr>
        <p:spPr bwMode="auto">
          <a:xfrm>
            <a:off x="1301750" y="1784350"/>
            <a:ext cx="7666038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de-DE" dirty="0" smtClean="0"/>
              <a:t>Flinke Hände und flinke Füße</a:t>
            </a:r>
          </a:p>
          <a:p>
            <a:pPr marL="0" indent="0"/>
            <a:endParaRPr lang="de-DE" sz="24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 sind seit 1962 in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jedem Jahr für eine gute Sache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 Einsatz.</a:t>
            </a:r>
          </a:p>
          <a:p>
            <a:pPr marL="0" indent="0"/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 Jahresaktionen sammeln die Pfadfinderinnen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Pfadfinder Geld für Projekte. Aber sie setzen sich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auch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 den Ursachen von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Ungerechtigkeit,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sowie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 Leben junger Menschen auseinander, die im 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Zentrum </a:t>
            </a: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Jahresaktion stehen.</a:t>
            </a:r>
          </a:p>
        </p:txBody>
      </p:sp>
      <p:pic>
        <p:nvPicPr>
          <p:cNvPr id="1026" name="Picture 2" descr="C:\Users\dseiler\Desktop\JA14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7638" y="2503899"/>
            <a:ext cx="2050150" cy="90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dseiler\Desktop\ja2013_logo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4078" y="3443600"/>
            <a:ext cx="2063710" cy="127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dseiler\Desktop\ja2012_logo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7638" y="4572611"/>
            <a:ext cx="2050150" cy="83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07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Dachorganisationen</a:t>
            </a:r>
            <a:endParaRPr lang="de-DE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15</a:t>
            </a:fld>
            <a:endParaRPr lang="en-GB" altLang="de-DE"/>
          </a:p>
        </p:txBody>
      </p:sp>
      <p:sp>
        <p:nvSpPr>
          <p:cNvPr id="5" name="Textplatzhalter 6"/>
          <p:cNvSpPr txBox="1">
            <a:spLocks/>
          </p:cNvSpPr>
          <p:nvPr/>
        </p:nvSpPr>
        <p:spPr bwMode="auto">
          <a:xfrm>
            <a:off x="1301750" y="1791907"/>
            <a:ext cx="542400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 DPSG ist Mitglied im Bund der Deutschen Katholischen Jugend (BDKJ) und im Ring deutscher Pfadfinderverbände (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RdP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 marL="0" indent="0"/>
            <a:endParaRPr lang="de-DE" sz="20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Über den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RdP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ist sie Mitglied im Deutschen Bundesjugendring (DBJR) und in der World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Scout Movement (WOSM). </a:t>
            </a:r>
          </a:p>
          <a:p>
            <a:pPr marL="0" indent="0"/>
            <a:endParaRPr lang="de-DE" sz="20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Außerdem gestaltet sie die Internationale Katholische Konferenz des </a:t>
            </a:r>
            <a:r>
              <a:rPr lang="de-DE" sz="20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Pfadfindertums</a:t>
            </a: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(ICCS) mit.</a:t>
            </a:r>
          </a:p>
        </p:txBody>
      </p:sp>
      <p:pic>
        <p:nvPicPr>
          <p:cNvPr id="6" name="Picture 8" descr="WOS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5319" y="3189366"/>
            <a:ext cx="936769" cy="93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 descr="http://raphabreyer.de/wp-content/uploads/2012/05/logo_bdkj_ne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7554" y="1874143"/>
            <a:ext cx="952336" cy="76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I:\Bundesleitung_neu\01 Allgemeines\Materialien\Logos\ICCS-Kreis-f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6404" y="4456807"/>
            <a:ext cx="936769" cy="97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pfadfinden-in-deutschland.de/fileadmin/templates/rdprdp/logo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5319" y="2031555"/>
            <a:ext cx="937231" cy="37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jugenddelegierte.dbjr.de/uploadimages/big/17_1653_DBJR85MM_Kopie_300dpi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9759" y="3354279"/>
            <a:ext cx="933413" cy="44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54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Weitere Informationen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altLang="de-DE" dirty="0" smtClean="0">
                <a:solidFill>
                  <a:schemeClr val="bg1"/>
                </a:solidFill>
              </a:rPr>
              <a:t>Vorstellung der DPSG</a:t>
            </a:r>
            <a:endParaRPr lang="en-GB" alt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1E741-CF55-4FA5-88D0-34EA350E306D}" type="slidenum">
              <a:rPr lang="en-GB" altLang="de-DE" smtClean="0"/>
              <a:pPr/>
              <a:t>16</a:t>
            </a:fld>
            <a:endParaRPr lang="en-GB" altLang="de-DE"/>
          </a:p>
        </p:txBody>
      </p:sp>
      <p:sp>
        <p:nvSpPr>
          <p:cNvPr id="5" name="Textplatzhalter 4"/>
          <p:cNvSpPr txBox="1">
            <a:spLocks/>
          </p:cNvSpPr>
          <p:nvPr/>
        </p:nvSpPr>
        <p:spPr bwMode="auto">
          <a:xfrm>
            <a:off x="1306513" y="1784350"/>
            <a:ext cx="7666037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defRPr sz="3600" kern="1200">
                <a:solidFill>
                  <a:schemeClr val="tx2"/>
                </a:solidFill>
                <a:latin typeface="+mn-lt"/>
                <a:ea typeface="ＭＳ Ｐゴシック" charset="-128"/>
                <a:cs typeface="TheSerif 5"/>
              </a:defRPr>
            </a:lvl1pPr>
            <a:lvl2pPr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2pPr>
            <a:lvl3pPr indent="-4064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3pPr>
            <a:lvl4pPr marL="8128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4pPr>
            <a:lvl5pPr marL="1219200" indent="-3810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72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Calibri"/>
                <a:ea typeface="ＭＳ Ｐゴシック" charset="-128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Mehr Wissenswertes zur Arbeit der DPSG:</a:t>
            </a:r>
          </a:p>
          <a:p>
            <a:pPr marL="0" indent="0"/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8775" lvl="1">
              <a:buFontTx/>
              <a:buChar char="•"/>
            </a:pP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www.dpsg.de</a:t>
            </a:r>
          </a:p>
          <a:p>
            <a:pPr marL="358775" lvl="1">
              <a:buFontTx/>
              <a:buChar char="•"/>
            </a:pPr>
            <a:r>
              <a:rPr lang="de-DE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www.facebook.com/dpsg.de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www.twitter.com/dpsg</a:t>
            </a:r>
          </a:p>
          <a:p>
            <a:pPr marL="358775" lvl="1">
              <a:buFontTx/>
              <a:buChar char="•"/>
            </a:pP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www.youtube.com/scoutedich</a:t>
            </a:r>
          </a:p>
          <a:p>
            <a:pPr marL="73025" lvl="1" indent="0"/>
            <a:endParaRPr lang="de-DE" sz="20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025" lvl="1" indent="0"/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 in unserer Mitgliederzeitschrift „mittendrin“ und </a:t>
            </a:r>
            <a:b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 Flyer „Pfadfinden: Abenteuer und mehr“</a:t>
            </a:r>
          </a:p>
          <a:p>
            <a:pPr marL="358775" lvl="1">
              <a:buFontTx/>
              <a:buChar char="•"/>
            </a:pPr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E:\Pictures\Dokumentationen\Pfingsten2013\Fotos\-4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51"/>
            <a:ext cx="2054225" cy="338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18325" y="1784350"/>
            <a:ext cx="2054225" cy="338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839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psg-ppt-140121">
  <a:themeElements>
    <a:clrScheme name="dpsg">
      <a:dk1>
        <a:sysClr val="windowText" lastClr="000000"/>
      </a:dk1>
      <a:lt1>
        <a:sysClr val="window" lastClr="FFFFFF"/>
      </a:lt1>
      <a:dk2>
        <a:srgbClr val="002B51"/>
      </a:dk2>
      <a:lt2>
        <a:srgbClr val="EEECE1"/>
      </a:lt2>
      <a:accent1>
        <a:srgbClr val="9E1827"/>
      </a:accent1>
      <a:accent2>
        <a:srgbClr val="E8DFCA"/>
      </a:accent2>
      <a:accent3>
        <a:srgbClr val="C3BBAB"/>
      </a:accent3>
      <a:accent4>
        <a:srgbClr val="78726C"/>
      </a:accent4>
      <a:accent5>
        <a:srgbClr val="4BACC6"/>
      </a:accent5>
      <a:accent6>
        <a:srgbClr val="F79646"/>
      </a:accent6>
      <a:hlink>
        <a:srgbClr val="002B51"/>
      </a:hlink>
      <a:folHlink>
        <a:srgbClr val="78726C"/>
      </a:folHlink>
    </a:clrScheme>
    <a:fontScheme name="Phoebe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dpsg-ppt-140121</Template>
  <TotalTime>0</TotalTime>
  <Words>665</Words>
  <Application>Microsoft Office PowerPoint</Application>
  <PresentationFormat>Bildschirmpräsentation (4:3)</PresentationFormat>
  <Paragraphs>142</Paragraphs>
  <Slides>16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7" baseType="lpstr">
      <vt:lpstr>dpsg-ppt-140121</vt:lpstr>
      <vt:lpstr>PowerPoint-Präsentation</vt:lpstr>
      <vt:lpstr>Wer wir sind</vt:lpstr>
      <vt:lpstr>Wer wir sind</vt:lpstr>
      <vt:lpstr>Das Pfadfinder-Gesetz</vt:lpstr>
      <vt:lpstr>Grundlegende Prinzipien</vt:lpstr>
      <vt:lpstr>Wer wir sind</vt:lpstr>
      <vt:lpstr>Leben in vier Altersstufen</vt:lpstr>
      <vt:lpstr>Leben in vier Altersstufen</vt:lpstr>
      <vt:lpstr>Leben in vier Altersstufen</vt:lpstr>
      <vt:lpstr>Leben in vier Altersstufen</vt:lpstr>
      <vt:lpstr>Engagementfelder</vt:lpstr>
      <vt:lpstr>Engagementfelder</vt:lpstr>
      <vt:lpstr>Engagementfelder</vt:lpstr>
      <vt:lpstr>Jahresaktion</vt:lpstr>
      <vt:lpstr>Dachorganisationen</vt:lpstr>
      <vt:lpstr>Weitere Informationen</vt:lpstr>
    </vt:vector>
  </TitlesOfParts>
  <Company>Microsoft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Vorstellung DPSG</dc:title>
  <dc:creator>Daniel Seiler</dc:creator>
  <cp:keywords>DPSG, Vorstellung, Präsentation</cp:keywords>
  <cp:lastModifiedBy>Dominik Naab</cp:lastModifiedBy>
  <cp:revision>37</cp:revision>
  <dcterms:created xsi:type="dcterms:W3CDTF">2014-01-28T15:08:56Z</dcterms:created>
  <dcterms:modified xsi:type="dcterms:W3CDTF">2014-02-07T09:07:30Z</dcterms:modified>
</cp:coreProperties>
</file>